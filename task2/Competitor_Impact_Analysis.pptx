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3"/>
  </p:notesMasterIdLst>
  <p:sldIdLst>
    <p:sldId id="352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8BA7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23"/>
    <p:restoredTop sz="94685"/>
  </p:normalViewPr>
  <p:slideViewPr>
    <p:cSldViewPr snapToGrid="0">
      <p:cViewPr varScale="1">
        <p:scale>
          <a:sx n="78" d="100"/>
          <a:sy n="78" d="100"/>
        </p:scale>
        <p:origin x="811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A07DC6-C85A-6C49-9968-9EEB13EFDFC7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06D263-71E7-BF4D-85FD-63DDFF32945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2664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D4EC6B-5FCE-E303-F470-69DCE25186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D587AE0-7AFD-A9DB-2CE8-851C3208F7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55575" y="574675"/>
            <a:ext cx="6621463" cy="3724275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8C2AF44-61FF-9B03-501B-4C1F915425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FB5FB7-B0D0-3C83-32AB-99A08E70E8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r>
              <a:rPr lang="en-US"/>
              <a:t>Notes view: </a:t>
            </a:r>
            <a:fld id="{128CEAFE-FA94-43E5-B0FF-D47E1CCDD1B4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02444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Text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E4FFF-81B3-4CDA-B0A1-3363FFB22A6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30000" y="622800"/>
            <a:ext cx="10933350" cy="470898"/>
          </a:xfrm>
        </p:spPr>
        <p:txBody>
          <a:bodyPr/>
          <a:lstStyle>
            <a:lvl1pPr>
              <a:defRPr sz="3400"/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1F54B2F8-C51F-4566-BAC0-8A0C8E57548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399" y="2085628"/>
            <a:ext cx="10933801" cy="4089131"/>
          </a:xfrm>
        </p:spPr>
        <p:txBody>
          <a:bodyPr/>
          <a:lstStyle>
            <a:lvl1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/>
            </a:lvl1pPr>
            <a:lvl2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/>
            </a:lvl2pPr>
            <a:lvl3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000"/>
            </a:lvl3pPr>
            <a:lvl4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/>
            </a:lvl4pPr>
            <a:lvl5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 sz="2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27821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5/2/2026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1.bin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2CEBDE-8D05-9A42-8C6E-5F748BF836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BDF92-D9FC-96E8-851A-690F644F1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250" y="668901"/>
            <a:ext cx="10933350" cy="470898"/>
          </a:xfrm>
        </p:spPr>
        <p:txBody>
          <a:bodyPr>
            <a:normAutofit fontScale="90000"/>
          </a:bodyPr>
          <a:lstStyle/>
          <a:p>
            <a:r>
              <a:rPr lang="en-US" dirty="0">
                <a:solidFill>
                  <a:srgbClr val="28BA74"/>
                </a:solidFill>
              </a:rPr>
              <a:t>Comparing the impact of competitor financial models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B1C571D-069B-2731-4FB0-0A1B31512D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629251" y="1418559"/>
            <a:ext cx="2059448" cy="2600575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sz="1200" b="1"/>
              <a:t>Instructions:</a:t>
            </a:r>
          </a:p>
          <a:p>
            <a:pPr lvl="1">
              <a:buNone/>
            </a:pPr>
            <a:r>
              <a:rPr lang="en-US" sz="1200"/>
              <a:t>Use the table to evaluate the financial impact of installment financing for the provided competitors. </a:t>
            </a:r>
          </a:p>
          <a:p>
            <a:pPr lvl="1">
              <a:buNone/>
            </a:pPr>
            <a:endParaRPr lang="en-US" sz="1200"/>
          </a:p>
          <a:p>
            <a:pPr lvl="1">
              <a:buNone/>
            </a:pPr>
            <a:r>
              <a:rPr lang="en-US" sz="1200"/>
              <a:t>Copy and paste the provided shapes to demonstrate if impact was:</a:t>
            </a:r>
          </a:p>
          <a:p>
            <a:pPr marL="455850" lvl="1" indent="-171450"/>
            <a:r>
              <a:rPr lang="en-US" sz="1200"/>
              <a:t>Extremely Positive</a:t>
            </a:r>
          </a:p>
          <a:p>
            <a:pPr marL="455850" lvl="1" indent="-171450"/>
            <a:r>
              <a:rPr lang="en-US" sz="1200"/>
              <a:t>Positive</a:t>
            </a:r>
          </a:p>
          <a:p>
            <a:pPr marL="455850" lvl="1" indent="-171450"/>
            <a:r>
              <a:rPr lang="en-US" sz="1200"/>
              <a:t>Neutral</a:t>
            </a:r>
          </a:p>
          <a:p>
            <a:pPr marL="455850" lvl="1" indent="-171450"/>
            <a:r>
              <a:rPr lang="en-US" sz="1200"/>
              <a:t>Negative </a:t>
            </a:r>
          </a:p>
          <a:p>
            <a:pPr marL="455850" lvl="1" indent="-171450"/>
            <a:r>
              <a:rPr lang="en-US" sz="1200"/>
              <a:t>Extremely Negative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43541B3-1047-9B28-D449-EF30F6D94DB8}"/>
              </a:ext>
            </a:extLst>
          </p:cNvPr>
          <p:cNvGraphicFramePr>
            <a:graphicFrameLocks/>
          </p:cNvGraphicFramePr>
          <p:nvPr/>
        </p:nvGraphicFramePr>
        <p:xfrm>
          <a:off x="3009649" y="1424117"/>
          <a:ext cx="8552202" cy="2956560"/>
        </p:xfrm>
        <a:graphic>
          <a:graphicData uri="http://schemas.openxmlformats.org/drawingml/2006/table">
            <a:tbl>
              <a:tblPr bandRow="1">
                <a:tableStyleId>{93296810-A885-4BE3-A3E7-6D5BEEA58F35}</a:tableStyleId>
              </a:tblPr>
              <a:tblGrid>
                <a:gridCol w="1434559">
                  <a:extLst>
                    <a:ext uri="{9D8B030D-6E8A-4147-A177-3AD203B41FA5}">
                      <a16:colId xmlns:a16="http://schemas.microsoft.com/office/drawing/2014/main" val="3375008755"/>
                    </a:ext>
                  </a:extLst>
                </a:gridCol>
                <a:gridCol w="1156494">
                  <a:extLst>
                    <a:ext uri="{9D8B030D-6E8A-4147-A177-3AD203B41FA5}">
                      <a16:colId xmlns:a16="http://schemas.microsoft.com/office/drawing/2014/main" val="543979859"/>
                    </a:ext>
                  </a:extLst>
                </a:gridCol>
                <a:gridCol w="1207961">
                  <a:extLst>
                    <a:ext uri="{9D8B030D-6E8A-4147-A177-3AD203B41FA5}">
                      <a16:colId xmlns:a16="http://schemas.microsoft.com/office/drawing/2014/main" val="2833714817"/>
                    </a:ext>
                  </a:extLst>
                </a:gridCol>
                <a:gridCol w="1264150">
                  <a:extLst>
                    <a:ext uri="{9D8B030D-6E8A-4147-A177-3AD203B41FA5}">
                      <a16:colId xmlns:a16="http://schemas.microsoft.com/office/drawing/2014/main" val="3386908878"/>
                    </a:ext>
                  </a:extLst>
                </a:gridCol>
                <a:gridCol w="1264150">
                  <a:extLst>
                    <a:ext uri="{9D8B030D-6E8A-4147-A177-3AD203B41FA5}">
                      <a16:colId xmlns:a16="http://schemas.microsoft.com/office/drawing/2014/main" val="1820547282"/>
                    </a:ext>
                  </a:extLst>
                </a:gridCol>
                <a:gridCol w="1112444">
                  <a:extLst>
                    <a:ext uri="{9D8B030D-6E8A-4147-A177-3AD203B41FA5}">
                      <a16:colId xmlns:a16="http://schemas.microsoft.com/office/drawing/2014/main" val="2629736330"/>
                    </a:ext>
                  </a:extLst>
                </a:gridCol>
                <a:gridCol w="1112444">
                  <a:extLst>
                    <a:ext uri="{9D8B030D-6E8A-4147-A177-3AD203B41FA5}">
                      <a16:colId xmlns:a16="http://schemas.microsoft.com/office/drawing/2014/main" val="1587388325"/>
                    </a:ext>
                  </a:extLst>
                </a:gridCol>
              </a:tblGrid>
              <a:tr h="239063">
                <a:tc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Company X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E6F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Company 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6E6F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100" b="1">
                          <a:solidFill>
                            <a:srgbClr val="FFFFFF"/>
                          </a:solidFill>
                        </a:rPr>
                        <a:t>Company Z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6E6F7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8205645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endParaRPr lang="en-US" sz="1100">
                        <a:solidFill>
                          <a:srgbClr val="000000"/>
                        </a:solidFill>
                      </a:endParaRPr>
                    </a:p>
                  </a:txBody>
                  <a:tcPr anchor="ctr">
                    <a:lnL w="12700" cmpd="sng">
                      <a:noFill/>
                    </a:lnL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Y0 – Y1 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Y1 – Y2 ∆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Y0 – Y1 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Y1 – Y2 ∆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Y0 – Y1 ∆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solidFill>
                      <a:srgbClr val="E2FAE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>
                          <a:solidFill>
                            <a:srgbClr val="000000"/>
                          </a:solidFill>
                        </a:rPr>
                        <a:t>Y1 – Y2 ∆</a:t>
                      </a:r>
                    </a:p>
                  </a:txBody>
                  <a:tcPr anchor="ctr">
                    <a:solidFill>
                      <a:srgbClr val="E2FAE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45812631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Sales / Revenue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050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050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8000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050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25134062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Operating Costs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9333887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Interest Revenue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8000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8000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78830417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Interest Expenses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10514225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Taxes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050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44475511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Profit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050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050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8000"/>
                          </a:solidFill>
                        </a:defRPr>
                      </a:pPr>
                      <a:r>
                        <a:t>++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48370604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Cash flow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00B050"/>
                          </a:solidFill>
                        </a:defRPr>
                      </a:pPr>
                      <a:r>
                        <a:t>+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7766940"/>
                  </a:ext>
                </a:extLst>
              </a:tr>
              <a:tr h="239063">
                <a:tc>
                  <a:txBody>
                    <a:bodyPr/>
                    <a:lstStyle/>
                    <a:p>
                      <a:r>
                        <a:rPr lang="en-US" sz="1100" b="1">
                          <a:solidFill>
                            <a:srgbClr val="000000"/>
                          </a:solidFill>
                        </a:rPr>
                        <a:t>Debt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9900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808080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C00000"/>
                          </a:solidFill>
                        </a:defRPr>
                      </a:pPr>
                      <a:r>
                        <a:t>--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57236807"/>
                  </a:ext>
                </a:extLst>
              </a:tr>
            </a:tbl>
          </a:graphicData>
        </a:graphic>
      </p:graphicFrame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C6FF6C1C-2330-A0A1-2244-9F547091232F}"/>
              </a:ext>
            </a:extLst>
          </p:cNvPr>
          <p:cNvSpPr txBox="1">
            <a:spLocks/>
          </p:cNvSpPr>
          <p:nvPr/>
        </p:nvSpPr>
        <p:spPr>
          <a:xfrm>
            <a:off x="731760" y="5214199"/>
            <a:ext cx="10932600" cy="122183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>
              <a:buNone/>
            </a:pPr>
            <a:r>
              <a:rPr dirty="0"/>
              <a:t>Answers to Follow-up Questions:</a:t>
            </a:r>
          </a:p>
          <a:p>
            <a:pPr>
              <a:defRPr sz="900"/>
            </a:pPr>
            <a:r>
              <a:rPr sz="1050" b="1" dirty="0"/>
              <a:t>1. Short-term: </a:t>
            </a:r>
            <a:r>
              <a:rPr sz="1050" dirty="0"/>
              <a:t>Installment financing can boost revenues significantly (+13% like Z) via higher sales volume and accessibility, but profits may dip initially (-14%) due to setup costs, higher </a:t>
            </a:r>
            <a:r>
              <a:rPr sz="1050" dirty="0" err="1"/>
              <a:t>OpEx</a:t>
            </a:r>
            <a:r>
              <a:rPr sz="1050" dirty="0"/>
              <a:t> (provisions, admin), and interest expenses. Long-term: Sustained revenue growth (+6%), strong profit recovery (+18%), plus new interest revenue stream, leading to higher overall profitability and market share vs. no-financing peers (+3-4% sales, flat profits).</a:t>
            </a:r>
          </a:p>
          <a:p>
            <a:pPr>
              <a:defRPr sz="900"/>
            </a:pPr>
            <a:endParaRPr sz="1050" dirty="0"/>
          </a:p>
          <a:p>
            <a:pPr>
              <a:defRPr sz="900"/>
            </a:pPr>
            <a:r>
              <a:rPr sz="1050" b="1" dirty="0"/>
              <a:t>2. Short-term: </a:t>
            </a:r>
            <a:r>
              <a:rPr sz="1050" dirty="0"/>
              <a:t>Costs rise sharply (</a:t>
            </a:r>
            <a:r>
              <a:rPr sz="1050" dirty="0" err="1"/>
              <a:t>OpEx</a:t>
            </a:r>
            <a:r>
              <a:rPr sz="1050" dirty="0"/>
              <a:t> +29% in intro year for systems/marketing/bad debt), cash flow severely strained (-37% cash, AR surges as customers defer payments), often requiring more debt (+17% later). Long-term: Costs stabilize, but cash remains pressured (-12% ongoing) due to higher AR from financing plans; however, higher sales velocity and loyalty improve long-term cash generation potential. Recommend phased rollout, credit checks, and 12-24mo 0-2% plans to balance.</a:t>
            </a:r>
          </a:p>
        </p:txBody>
      </p:sp>
      <p:graphicFrame>
        <p:nvGraphicFramePr>
          <p:cNvPr id="30" name="Object 29" hidden="1">
            <a:extLst>
              <a:ext uri="{FF2B5EF4-FFF2-40B4-BE49-F238E27FC236}">
                <a16:creationId xmlns:a16="http://schemas.microsoft.com/office/drawing/2014/main" id="{6366A2F7-A236-0724-4545-FA123CCEF95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30" name="Object 29" hidden="1">
                        <a:extLst>
                          <a:ext uri="{FF2B5EF4-FFF2-40B4-BE49-F238E27FC236}">
                            <a16:creationId xmlns:a16="http://schemas.microsoft.com/office/drawing/2014/main" id="{6366A2F7-A236-0724-4545-FA123CCEF95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Rectangle 30" hidden="1">
            <a:extLst>
              <a:ext uri="{FF2B5EF4-FFF2-40B4-BE49-F238E27FC236}">
                <a16:creationId xmlns:a16="http://schemas.microsoft.com/office/drawing/2014/main" id="{E35FE535-08F3-BCE2-B94B-1B50509D344B}"/>
              </a:ext>
            </a:extLst>
          </p:cNvPr>
          <p:cNvSpPr/>
          <p:nvPr>
            <p:custDataLst>
              <p:tags r:id="rId2"/>
            </p:custDataLst>
          </p:nvPr>
        </p:nvSpPr>
        <p:spPr bwMode="gray">
          <a:xfrm>
            <a:off x="0" y="0"/>
            <a:ext cx="158750" cy="158750"/>
          </a:xfrm>
          <a:prstGeom prst="rect">
            <a:avLst/>
          </a:prstGeom>
          <a:solidFill>
            <a:srgbClr val="29BA74"/>
          </a:solidFill>
          <a:ln w="9525" cap="rnd" cmpd="sng" algn="ctr">
            <a:solidFill>
              <a:srgbClr val="29BA74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ct val="0"/>
              </a:spcBef>
              <a:spcAft>
                <a:spcPct val="0"/>
              </a:spcAft>
            </a:pPr>
            <a:endParaRPr lang="en-US" sz="1600">
              <a:solidFill>
                <a:srgbClr val="FFFFFF"/>
              </a:solidFill>
              <a:latin typeface="Trebuchet MS" panose="020B0603020202020204" pitchFamily="34" charset="0"/>
              <a:sym typeface="Trebuchet MS" panose="020B0603020202020204" pitchFamily="34" charset="0"/>
            </a:endParaRP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B1C5D33-B64A-5912-A85D-2789C45E76B0}"/>
              </a:ext>
            </a:extLst>
          </p:cNvPr>
          <p:cNvSpPr txBox="1">
            <a:spLocks/>
          </p:cNvSpPr>
          <p:nvPr/>
        </p:nvSpPr>
        <p:spPr>
          <a:xfrm>
            <a:off x="629250" y="4725863"/>
            <a:ext cx="5364692" cy="4191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228600" indent="-228600">
              <a:buFont typeface="+mj-lt"/>
              <a:buAutoNum type="arabicPeriod"/>
            </a:pPr>
            <a:r>
              <a:rPr lang="en-US" sz="1200" dirty="0"/>
              <a:t>What are the short-term and long-term effects installment financing could have on our client’s</a:t>
            </a:r>
            <a:r>
              <a:rPr lang="en-US" sz="1200" b="1" dirty="0">
                <a:solidFill>
                  <a:srgbClr val="29BA74"/>
                </a:solidFill>
              </a:rPr>
              <a:t> revenues </a:t>
            </a:r>
            <a:r>
              <a:rPr lang="en-US" sz="1200" dirty="0"/>
              <a:t>and </a:t>
            </a:r>
            <a:r>
              <a:rPr lang="en-US" sz="1200" b="1" dirty="0">
                <a:solidFill>
                  <a:srgbClr val="29BA74"/>
                </a:solidFill>
              </a:rPr>
              <a:t>profits</a:t>
            </a:r>
            <a:r>
              <a:rPr lang="en-US" sz="1200" dirty="0"/>
              <a:t>?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A8374BEC-DD17-25C6-E5E2-FBEF43E9280C}"/>
              </a:ext>
            </a:extLst>
          </p:cNvPr>
          <p:cNvSpPr txBox="1">
            <a:spLocks/>
          </p:cNvSpPr>
          <p:nvPr/>
        </p:nvSpPr>
        <p:spPr>
          <a:xfrm>
            <a:off x="6299668" y="4755701"/>
            <a:ext cx="5364692" cy="41915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marL="228600" indent="-228600">
              <a:buFont typeface="+mj-lt"/>
              <a:buAutoNum type="arabicPeriod" startAt="2"/>
            </a:pPr>
            <a:r>
              <a:rPr lang="en-US" sz="1200" dirty="0"/>
              <a:t>How might </a:t>
            </a:r>
            <a:r>
              <a:rPr lang="en-US" sz="1200" b="1" dirty="0">
                <a:solidFill>
                  <a:srgbClr val="29BA74"/>
                </a:solidFill>
              </a:rPr>
              <a:t>costs</a:t>
            </a:r>
            <a:r>
              <a:rPr lang="en-US" sz="1200" dirty="0"/>
              <a:t> and </a:t>
            </a:r>
            <a:r>
              <a:rPr lang="en-US" sz="1200" b="1" dirty="0">
                <a:solidFill>
                  <a:srgbClr val="29BA74"/>
                </a:solidFill>
              </a:rPr>
              <a:t>available cash </a:t>
            </a:r>
            <a:r>
              <a:rPr lang="en-US" sz="1200" dirty="0"/>
              <a:t>be impacted in the short term and long term if our client implements installment financing?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7C0B2FC8-3A35-EECE-ABCD-A961D9CA95A5}"/>
              </a:ext>
            </a:extLst>
          </p:cNvPr>
          <p:cNvSpPr txBox="1">
            <a:spLocks/>
          </p:cNvSpPr>
          <p:nvPr/>
        </p:nvSpPr>
        <p:spPr>
          <a:xfrm>
            <a:off x="3009649" y="4379574"/>
            <a:ext cx="8552202" cy="326615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1pPr>
            <a:lvl2pPr marL="284400" indent="-1728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2pPr>
            <a:lvl3pPr marL="511200" indent="-165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Trebuchet MS" panose="020B0603020202020204" pitchFamily="34" charset="0"/>
              <a:buChar char="–"/>
              <a:defRPr lang="en-US" sz="200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3pPr>
            <a:lvl4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0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800" b="1" kern="120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5pPr>
            <a:lvl6pPr marL="269875" indent="-152400" algn="l" defTabSz="914400" rtl="0" eaLnBrk="1" latinLnBrk="0" hangingPunct="1">
              <a:lnSpc>
                <a:spcPct val="90000"/>
              </a:lnSpc>
              <a:spcBef>
                <a:spcPts val="0"/>
              </a:spcBef>
              <a:spcAft>
                <a:spcPts val="600"/>
              </a:spcAft>
              <a:buClr>
                <a:srgbClr val="000000"/>
              </a:buClr>
              <a:buFont typeface="Arial" panose="020B0604020202020204" pitchFamily="34" charset="0"/>
              <a:buChar char="•"/>
              <a:defRPr lang="en-US" sz="1600" kern="120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6pPr>
            <a:lvl7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440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7pPr>
            <a:lvl8pPr marL="0" indent="0" algn="l" defTabSz="914400" rtl="0" eaLnBrk="1" latinLnBrk="0" hangingPunct="1">
              <a:lnSpc>
                <a:spcPct val="90000"/>
              </a:lnSpc>
              <a:spcBef>
                <a:spcPts val="900"/>
              </a:spcBef>
              <a:spcAft>
                <a:spcPts val="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5400" b="0" kern="1200" baseline="0" smtClean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8pPr>
            <a:lvl9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Clr>
                <a:srgbClr val="21BF61"/>
              </a:buClr>
              <a:buFont typeface="Arial" panose="020B0604020202020204" pitchFamily="34" charset="0"/>
              <a:buChar char="​"/>
              <a:defRPr lang="en-US" sz="2400" b="0" kern="1200" baseline="0" dirty="0">
                <a:solidFill>
                  <a:srgbClr val="000000"/>
                </a:solidFill>
                <a:latin typeface="+mn-lt"/>
                <a:ea typeface="+mn-ea"/>
                <a:cs typeface="+mn-cs"/>
                <a:sym typeface="Trebuchet MS" panose="020B0603020202020204" pitchFamily="34" charset="0"/>
              </a:defRPr>
            </a:lvl9pPr>
          </a:lstStyle>
          <a:p>
            <a:pPr lvl="1" algn="r">
              <a:buNone/>
            </a:pPr>
            <a:r>
              <a:rPr lang="en-US" sz="1050" b="1" i="1" u="sng" dirty="0">
                <a:solidFill>
                  <a:srgbClr val="6E6F73"/>
                </a:solidFill>
              </a:rPr>
              <a:t>Tip</a:t>
            </a:r>
            <a:r>
              <a:rPr lang="en-US" sz="1050" i="1" dirty="0">
                <a:solidFill>
                  <a:srgbClr val="6E6F73"/>
                </a:solidFill>
              </a:rPr>
              <a:t>: Your first step should be to define parameters for the various impact levels. For example, change rates ±3% might be considered standard market fluctuations and therefore considered “Neutral” impact.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0025D3D-F9F3-FBB1-CB35-32037971A334}"/>
              </a:ext>
            </a:extLst>
          </p:cNvPr>
          <p:cNvSpPr/>
          <p:nvPr/>
        </p:nvSpPr>
        <p:spPr>
          <a:xfrm>
            <a:off x="2593960" y="3270298"/>
            <a:ext cx="169333" cy="169333"/>
          </a:xfrm>
          <a:prstGeom prst="ellipse">
            <a:avLst/>
          </a:prstGeom>
          <a:solidFill>
            <a:srgbClr val="29BA74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C2C2C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5878583-006F-59F3-0C3D-B0F9AF30B71E}"/>
              </a:ext>
            </a:extLst>
          </p:cNvPr>
          <p:cNvSpPr/>
          <p:nvPr/>
        </p:nvSpPr>
        <p:spPr>
          <a:xfrm>
            <a:off x="2593960" y="3448264"/>
            <a:ext cx="169333" cy="169333"/>
          </a:xfrm>
          <a:prstGeom prst="ellipse">
            <a:avLst/>
          </a:prstGeom>
          <a:solidFill>
            <a:srgbClr val="D4DF33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200">
              <a:solidFill>
                <a:srgbClr val="FFFFFF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3726E43-2279-3586-FACC-03AE73A4AF84}"/>
              </a:ext>
            </a:extLst>
          </p:cNvPr>
          <p:cNvSpPr/>
          <p:nvPr/>
        </p:nvSpPr>
        <p:spPr>
          <a:xfrm>
            <a:off x="2593960" y="3626230"/>
            <a:ext cx="169333" cy="169333"/>
          </a:xfrm>
          <a:prstGeom prst="ellipse">
            <a:avLst/>
          </a:prstGeom>
          <a:solidFill>
            <a:srgbClr val="E71C57"/>
          </a:solidFill>
          <a:ln w="9525" cap="rnd" cmpd="sng" algn="ctr">
            <a:solidFill>
              <a:srgbClr val="E71C57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-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ED1E8C9-9A57-BBF8-DEC2-7488DB5F0A07}"/>
              </a:ext>
            </a:extLst>
          </p:cNvPr>
          <p:cNvSpPr/>
          <p:nvPr/>
        </p:nvSpPr>
        <p:spPr>
          <a:xfrm>
            <a:off x="2452227" y="3092333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197A56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29BA74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+ +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9B68566-384A-1CD0-BC6C-4A7D52241C90}"/>
              </a:ext>
            </a:extLst>
          </p:cNvPr>
          <p:cNvSpPr/>
          <p:nvPr/>
        </p:nvSpPr>
        <p:spPr>
          <a:xfrm>
            <a:off x="2452227" y="3819185"/>
            <a:ext cx="452799" cy="169332"/>
          </a:xfrm>
          <a:prstGeom prst="roundRect">
            <a:avLst>
              <a:gd name="adj" fmla="val 50000"/>
            </a:avLst>
          </a:prstGeom>
          <a:solidFill>
            <a:srgbClr val="C41300"/>
          </a:solidFill>
          <a:ln w="9525" cap="rnd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1240B29-F687-4F45-9708-019B960494DF}">
              <a14:hiddenLine xmlns:a14="http://schemas.microsoft.com/office/drawing/2010/main" w="9525" cap="rnd" cmpd="sng" algn="ctr">
                <a:solidFill>
                  <a:srgbClr val="E71C57"/>
                </a:solidFill>
                <a:prstDash val="solid"/>
                <a:round/>
                <a:headEnd type="none" w="med" len="med"/>
                <a:tailEnd type="none" w="med" len="med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US" sz="1200">
                <a:solidFill>
                  <a:srgbClr val="FFFFFF"/>
                </a:solidFill>
              </a:rPr>
              <a:t>- -</a:t>
            </a:r>
          </a:p>
        </p:txBody>
      </p:sp>
    </p:spTree>
    <p:extLst>
      <p:ext uri="{BB962C8B-B14F-4D97-AF65-F5344CB8AC3E}">
        <p14:creationId xmlns:p14="http://schemas.microsoft.com/office/powerpoint/2010/main" val="16255944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4RGjgtUESheJieGFcsjDRQ"/>
</p:tagLst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</TotalTime>
  <Words>414</Words>
  <Application>Microsoft Office PowerPoint</Application>
  <PresentationFormat>Widescreen</PresentationFormat>
  <Paragraphs>87</Paragraphs>
  <Slides>1</Slides>
  <Notes>1</Notes>
  <HiddenSlides>0</HiddenSlides>
  <MMClips>0</MMClips>
  <ScaleCrop>false</ScaleCrop>
  <HeadingPairs>
    <vt:vector size="8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Trebuchet MS</vt:lpstr>
      <vt:lpstr>Office Theme</vt:lpstr>
      <vt:lpstr>think-cell Slide</vt:lpstr>
      <vt:lpstr>Comparing the impact of competitor financial models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Scobee, Kyle</dc:creator>
  <cp:lastModifiedBy>Soumyakanta Bera</cp:lastModifiedBy>
  <cp:revision>2</cp:revision>
  <dcterms:created xsi:type="dcterms:W3CDTF">2025-09-05T20:16:28Z</dcterms:created>
  <dcterms:modified xsi:type="dcterms:W3CDTF">2026-05-02T17:55:16Z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0d5c4f4-7a29-4385-b7a5-afbe2154ae6f_Enabled">
    <vt:lpwstr>true</vt:lpwstr>
  </property>
  <property fmtid="{D5CDD505-2E9C-101B-9397-08002B2CF9AE}" pid="3" name="MSIP_Label_b0d5c4f4-7a29-4385-b7a5-afbe2154ae6f_SetDate">
    <vt:lpwstr>2025-09-05T20:18:04Z</vt:lpwstr>
  </property>
  <property fmtid="{D5CDD505-2E9C-101B-9397-08002B2CF9AE}" pid="4" name="MSIP_Label_b0d5c4f4-7a29-4385-b7a5-afbe2154ae6f_Method">
    <vt:lpwstr>Standard</vt:lpwstr>
  </property>
  <property fmtid="{D5CDD505-2E9C-101B-9397-08002B2CF9AE}" pid="5" name="MSIP_Label_b0d5c4f4-7a29-4385-b7a5-afbe2154ae6f_Name">
    <vt:lpwstr>Confidential</vt:lpwstr>
  </property>
  <property fmtid="{D5CDD505-2E9C-101B-9397-08002B2CF9AE}" pid="6" name="MSIP_Label_b0d5c4f4-7a29-4385-b7a5-afbe2154ae6f_SiteId">
    <vt:lpwstr>2dfb2f0b-4d21-4268-9559-72926144c918</vt:lpwstr>
  </property>
  <property fmtid="{D5CDD505-2E9C-101B-9397-08002B2CF9AE}" pid="7" name="MSIP_Label_b0d5c4f4-7a29-4385-b7a5-afbe2154ae6f_ActionId">
    <vt:lpwstr>cfadeeaa-2693-4643-b652-5f59caf06cac</vt:lpwstr>
  </property>
  <property fmtid="{D5CDD505-2E9C-101B-9397-08002B2CF9AE}" pid="8" name="MSIP_Label_b0d5c4f4-7a29-4385-b7a5-afbe2154ae6f_ContentBits">
    <vt:lpwstr>0</vt:lpwstr>
  </property>
  <property fmtid="{D5CDD505-2E9C-101B-9397-08002B2CF9AE}" pid="9" name="MSIP_Label_b0d5c4f4-7a29-4385-b7a5-afbe2154ae6f_Tag">
    <vt:lpwstr>50, 3, 0, 1</vt:lpwstr>
  </property>
</Properties>
</file>